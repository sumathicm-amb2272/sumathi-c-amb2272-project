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1" r:id="rId1"/>
  </p:sldMasterIdLst>
  <p:notesMasterIdLst>
    <p:notesMasterId r:id="rId19"/>
  </p:notesMasterIdLst>
  <p:sldIdLst>
    <p:sldId id="266" r:id="rId2"/>
    <p:sldId id="257" r:id="rId3"/>
    <p:sldId id="258" r:id="rId4"/>
    <p:sldId id="281" r:id="rId5"/>
    <p:sldId id="268" r:id="rId6"/>
    <p:sldId id="270" r:id="rId7"/>
    <p:sldId id="260" r:id="rId8"/>
    <p:sldId id="272" r:id="rId9"/>
    <p:sldId id="261" r:id="rId10"/>
    <p:sldId id="280" r:id="rId11"/>
    <p:sldId id="279" r:id="rId12"/>
    <p:sldId id="274" r:id="rId13"/>
    <p:sldId id="262" r:id="rId14"/>
    <p:sldId id="263" r:id="rId15"/>
    <p:sldId id="277" r:id="rId16"/>
    <p:sldId id="282" r:id="rId17"/>
    <p:sldId id="264" r:id="rId18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26" autoAdjust="0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5202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833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929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775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4754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9582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8090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89338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83654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936926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92047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67215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89682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69556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33494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9741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96932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71696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7622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7705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sp>
      <p:sp>
        <p:nvSpPr>
          <p:cNvPr id="3" name="Text 1"/>
          <p:cNvSpPr/>
          <p:nvPr/>
        </p:nvSpPr>
        <p:spPr>
          <a:xfrm>
            <a:off x="0" y="7315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UNIVERSITY OF AGRICULTURAL SCIENCES</a:t>
            </a:r>
            <a:endParaRPr lang="en-US"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0" y="48463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Agriculture, GKVK, Bengaluru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786384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EAI-421 (0+10)  |  Application of AI &amp; ML in Agriculture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229600" cy="192024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of AI &amp; ML for Study on</a:t>
            </a:r>
            <a:endParaRPr lang="en-US" sz="3200" dirty="0"/>
          </a:p>
          <a:p>
            <a:pPr marL="0" indent="0" algn="ctr">
              <a:buNone/>
            </a:pPr>
            <a:r>
              <a:rPr lang="en-US" sz="30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Effect of Nitrogen levels on growth and yield of chickpea.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65760" y="3749040"/>
            <a:ext cx="2468880" cy="77724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sp>
      <p:sp>
        <p:nvSpPr>
          <p:cNvPr id="11" name="Text 9"/>
          <p:cNvSpPr/>
          <p:nvPr/>
        </p:nvSpPr>
        <p:spPr>
          <a:xfrm>
            <a:off x="365760" y="37764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Sumathi 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114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AMB2272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3749040"/>
            <a:ext cx="2468880" cy="777240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sp>
      <p:sp>
        <p:nvSpPr>
          <p:cNvPr id="14" name="Text 12"/>
          <p:cNvSpPr/>
          <p:nvPr/>
        </p:nvSpPr>
        <p:spPr>
          <a:xfrm>
            <a:off x="3383280" y="37764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Supriya BH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4114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AMB2273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3749040"/>
            <a:ext cx="2468880" cy="777240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sp>
      <p:sp>
        <p:nvSpPr>
          <p:cNvPr id="17" name="Text 15"/>
          <p:cNvSpPr/>
          <p:nvPr/>
        </p:nvSpPr>
        <p:spPr>
          <a:xfrm>
            <a:off x="6400800" y="37764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Anupriya AV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4114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BMB2008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767177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4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9692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2D9E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207008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41732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Chickpea significance, yield gap &amp; nitrogen management</a:t>
            </a:r>
            <a:endParaRPr lang="en-US" sz="1200" b="1" dirty="0">
              <a:solidFill>
                <a:srgbClr val="C00000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1682496"/>
            <a:ext cx="4251960" cy="9966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4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" y="192938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2D9E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2167128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237744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ML-assisted N-level optimisation &amp; yield prediction</a:t>
            </a:r>
            <a:endParaRPr lang="en-US" sz="1200" b="1" dirty="0">
              <a:solidFill>
                <a:srgbClr val="C00000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2688336"/>
            <a:ext cx="425196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4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9768" y="28895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2D9E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" y="3127248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Design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" y="333756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40-record RCBD dataset: 5 N-levels × 4 replications </a:t>
            </a:r>
            <a:endParaRPr lang="en-US" sz="1100" b="1" dirty="0">
              <a:solidFill>
                <a:srgbClr val="C00000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3648456"/>
            <a:ext cx="425196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4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9768" y="38496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2D9E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" y="4087368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" y="429768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regression models, preprocessing, train-test split</a:t>
            </a:r>
            <a:endParaRPr lang="en-US" sz="1200" b="1" dirty="0">
              <a:solidFill>
                <a:srgbClr val="C00000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00600" y="91440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4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10328" y="9692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2D9E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10328" y="1207008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0328" y="141732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across all models</a:t>
            </a:r>
            <a:endParaRPr lang="en-US" sz="1200" b="1" dirty="0">
              <a:solidFill>
                <a:srgbClr val="C00000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00600" y="1728216"/>
            <a:ext cx="425196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4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10328" y="192938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2D9E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10328" y="2167128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10328" y="237744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optimization analysis</a:t>
            </a:r>
            <a:endParaRPr lang="en-US" sz="1200" b="1" dirty="0">
              <a:solidFill>
                <a:srgbClr val="C00000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800600" y="2688336"/>
            <a:ext cx="425196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4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10328" y="28895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2D9E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10328" y="3127248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10328" y="333756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model, nitrogen optimum &amp; recommendations</a:t>
            </a:r>
            <a:endParaRPr lang="en-US" sz="12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53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&amp; Objective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416052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8755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Chickpea in India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for ~40% of India's total pulse production. Vital protein source providing 22–24% protein by dry weight. Central to food security in arid &amp; semi-arid regions.</a:t>
            </a:r>
            <a:endParaRPr lang="en-US" sz="1100" b="1" dirty="0">
              <a:solidFill>
                <a:srgbClr val="7030A0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2816352"/>
            <a:ext cx="4160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32257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596895"/>
            <a:ext cx="3886200" cy="21074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Yield Gap</a:t>
            </a:r>
            <a:endParaRPr lang="en-US" sz="1100" dirty="0"/>
          </a:p>
          <a:p>
            <a:pPr marL="0" indent="0">
              <a:buNone/>
            </a:pPr>
            <a:endParaRPr lang="en-US" sz="1100" b="1" dirty="0" smtClean="0">
              <a:solidFill>
                <a:srgbClr val="7030A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b="1" dirty="0" smtClean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</a:t>
            </a:r>
            <a:r>
              <a:rPr lang="en-US" sz="11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yields: 900–1,100 kg/ha vs potential &gt;3,000 kg/ha. Primary cause: suboptimal nitrogen management. Biological N-fixation alone is insufficient.</a:t>
            </a:r>
            <a:endParaRPr lang="en-US" sz="1100" b="1" dirty="0">
              <a:solidFill>
                <a:srgbClr val="7030A0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54880" y="896112"/>
            <a:ext cx="4069080" cy="1920240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sp>
      <p:sp>
        <p:nvSpPr>
          <p:cNvPr id="17" name="Text 15"/>
          <p:cNvSpPr/>
          <p:nvPr/>
        </p:nvSpPr>
        <p:spPr>
          <a:xfrm>
            <a:off x="4937760" y="1005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Objective</a:t>
            </a:r>
            <a:endParaRPr lang="en-US" sz="1200" dirty="0">
              <a:solidFill>
                <a:srgbClr val="FFC0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37760" y="133502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and evaluate supervised ML regression algorithms on a chickpea nitrogen trial dataset to</a:t>
            </a:r>
            <a:r>
              <a:rPr lang="en-US" sz="1050" b="1" dirty="0">
                <a:solidFill>
                  <a:srgbClr val="A4D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050" b="1" dirty="0"/>
          </a:p>
        </p:txBody>
      </p:sp>
      <p:sp>
        <p:nvSpPr>
          <p:cNvPr id="19" name="Text 17"/>
          <p:cNvSpPr/>
          <p:nvPr/>
        </p:nvSpPr>
        <p:spPr>
          <a:xfrm>
            <a:off x="4937760" y="1737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Predict grain yield (kg/ha) from agronomic parameters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37760" y="2057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optimum nitrogen application rate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37760" y="2377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most suitable ML model for deployment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54880" y="2944368"/>
            <a:ext cx="406908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4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30358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Treatments (RCBD Design)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364992"/>
            <a:ext cx="749808" cy="1280160"/>
          </a:xfrm>
          <a:prstGeom prst="rect">
            <a:avLst/>
          </a:prstGeom>
          <a:solidFill>
            <a:srgbClr val="EBF7F1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419856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365760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kg/ha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0600" y="3931920"/>
            <a:ext cx="7498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605272" y="3364992"/>
            <a:ext cx="749808" cy="1280160"/>
          </a:xfrm>
          <a:prstGeom prst="rect">
            <a:avLst/>
          </a:prstGeom>
          <a:solidFill>
            <a:srgbClr val="EBF7F1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05272" y="3419856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05272" y="365760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kg/ha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05272" y="3931920"/>
            <a:ext cx="7498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09944" y="3364992"/>
            <a:ext cx="749808" cy="1280160"/>
          </a:xfrm>
          <a:prstGeom prst="rect">
            <a:avLst/>
          </a:prstGeom>
          <a:solidFill>
            <a:srgbClr val="EBF7F1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9944" y="3419856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09944" y="365760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kg/ha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9944" y="3931920"/>
            <a:ext cx="7498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214616" y="3364992"/>
            <a:ext cx="749808" cy="1280160"/>
          </a:xfrm>
          <a:prstGeom prst="rect">
            <a:avLst/>
          </a:prstGeom>
          <a:solidFill>
            <a:srgbClr val="2D9E72"/>
          </a:solidFill>
          <a:ln w="19050">
            <a:solidFill>
              <a:srgbClr val="2A54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14616" y="3419856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214616" y="365760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60 kg/ha</a:t>
            </a:r>
            <a:endParaRPr lang="en-US" sz="900" b="1" dirty="0"/>
          </a:p>
        </p:txBody>
      </p:sp>
      <p:sp>
        <p:nvSpPr>
          <p:cNvPr id="39" name="Text 37"/>
          <p:cNvSpPr/>
          <p:nvPr/>
        </p:nvSpPr>
        <p:spPr>
          <a:xfrm>
            <a:off x="7214616" y="3931920"/>
            <a:ext cx="7498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★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019288" y="3364992"/>
            <a:ext cx="749808" cy="1280160"/>
          </a:xfrm>
          <a:prstGeom prst="rect">
            <a:avLst/>
          </a:prstGeom>
          <a:solidFill>
            <a:srgbClr val="EBF7F1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19288" y="3419856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019288" y="365760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kg/ha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019288" y="3931920"/>
            <a:ext cx="7498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N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5491" y="451939"/>
            <a:ext cx="8094785" cy="337015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700"/>
              </a:spcAft>
            </a:pPr>
            <a:r>
              <a:rPr lang="en-IN" sz="3200" b="1" kern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Problem Statement</a:t>
            </a:r>
          </a:p>
          <a:p>
            <a:pPr>
              <a:spcBef>
                <a:spcPts val="1400"/>
              </a:spcBef>
              <a:spcAft>
                <a:spcPts val="700"/>
              </a:spcAft>
            </a:pPr>
            <a:endParaRPr lang="en-IN" sz="2000" b="1" kern="0" dirty="0">
              <a:solidFill>
                <a:srgbClr val="164D26"/>
              </a:solidFill>
              <a:latin typeface="Arial" panose="020B0604020202020204" pitchFamily="34" charset="0"/>
            </a:endParaRPr>
          </a:p>
          <a:p>
            <a:pPr>
              <a:spcBef>
                <a:spcPts val="1400"/>
              </a:spcBef>
              <a:spcAft>
                <a:spcPts val="700"/>
              </a:spcAft>
            </a:pPr>
            <a:r>
              <a:rPr lang="en-IN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Chickpea productivity in India is limited by a lack of precise, site-specific nitrogen management. Although nitrogen improves yield up to a certain level, exceeding this threshold can reduce productivity. Determining this optimal nitrogen level for different soils and climates is challenging using traditional methods. Additionally, there is a need for scalable, data-driven tools to utilize experimental data effectively. This study addresses these gaps using machine learning to identify optimal nitrogen levels and improve yield prediction.</a:t>
            </a:r>
            <a:endParaRPr lang="en-IN" b="1" kern="0" dirty="0">
              <a:solidFill>
                <a:srgbClr val="164D2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990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sp>
      <p:sp>
        <p:nvSpPr>
          <p:cNvPr id="3" name="Text 1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05840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Overview: </a:t>
            </a: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examines the effect of five graded nitrogen rates (0, 20, 40, 60, 80 kg/ha) on chickpea growth and yield at two critical stages — 30 and 45 Days After Sowing (DAS).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28216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Design: </a:t>
            </a: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observations from a Randomized Complete Block Design (RCBD) — 5 treatments × 4 replications × 2 growth stages.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450592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Applied: </a:t>
            </a: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supervised regression algorithms — Linear Regression, Decision Tree Regressor, Random Forest Regressor, and ANN (MLPRegressor).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172968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</a:t>
            </a: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kg N/ha (T4) consistently produced the highest yield (~2,008 kg/ha) — a 67% improvement over the unfertilised control.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895344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Accuracy: </a:t>
            </a: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and Random Forest achieved R² ≥ </a:t>
            </a:r>
            <a:r>
              <a:rPr lang="en-US" sz="1400" dirty="0" smtClean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0.9. </a:t>
            </a: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scored R² = 0.71. ANN failed to converge </a:t>
            </a:r>
            <a:r>
              <a:rPr lang="en-US" sz="1400" dirty="0" smtClean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82884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</p:sp>
      <p:sp>
        <p:nvSpPr>
          <p:cNvPr id="3" name="Text 1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DESCRIPTION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Chickpea Nitrogen Experiment Dataset — RCBD field experiment | 5 Treatments × 4 Replications </a:t>
            </a:r>
            <a:r>
              <a:rPr lang="en-US" sz="1200" i="1" dirty="0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observations | 6 variables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/>
          </p:nvPr>
        </p:nvGraphicFramePr>
        <p:xfrm>
          <a:off x="320040" y="1143000"/>
          <a:ext cx="8503920" cy="358444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Nitrogen_kg_ha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kg/ha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 of nitrogen fertiliser applied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after sowing (30 or 45)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Plant_Height_cm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plant height per plot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Leaf_Area_cm²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leaf area per plant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Ground_Cover_%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 of ground covered by canopy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Yield_kg_ha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kg/ha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Grain yield — the prediction 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598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03128"/>
            <a:ext cx="9144000" cy="68580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978408"/>
            <a:ext cx="384048" cy="384048"/>
          </a:xfrm>
          <a:prstGeom prst="rect">
            <a:avLst/>
          </a:prstGeom>
          <a:solidFill>
            <a:srgbClr val="2D9E72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978408"/>
            <a:ext cx="384048" cy="38404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996696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499616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40-record CSV loaded via pandas. Verified 0 missing values. Categorical Treatment/Replication columns excluded.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72968" y="841248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82696" y="978408"/>
            <a:ext cx="384048" cy="38404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</p:sp>
      <p:sp>
        <p:nvSpPr>
          <p:cNvPr id="11" name="Text 9"/>
          <p:cNvSpPr/>
          <p:nvPr/>
        </p:nvSpPr>
        <p:spPr>
          <a:xfrm>
            <a:off x="3282696" y="978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67328" y="996696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82696" y="1499616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features: Nitrogen_kg_ha, DAS, Plant_Height_cm, Leaf_Area_cm², Ground_Cover_%. Target: Yield_kg_ha.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25896" y="841248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35624" y="978408"/>
            <a:ext cx="384048" cy="384048"/>
          </a:xfrm>
          <a:prstGeom prst="rect">
            <a:avLst/>
          </a:prstGeom>
          <a:solidFill>
            <a:srgbClr val="2D9E72"/>
          </a:solidFill>
          <a:ln/>
        </p:spPr>
      </p:sp>
      <p:sp>
        <p:nvSpPr>
          <p:cNvPr id="16" name="Text 14"/>
          <p:cNvSpPr/>
          <p:nvPr/>
        </p:nvSpPr>
        <p:spPr>
          <a:xfrm>
            <a:off x="6135624" y="978408"/>
            <a:ext cx="384048" cy="38404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20256" y="996696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35624" y="1499616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80:20 split → 32 training / 8 test samples. random_state=42 for reproducibility.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8346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" y="2971800"/>
            <a:ext cx="384048" cy="384048"/>
          </a:xfrm>
          <a:prstGeom prst="rect">
            <a:avLst/>
          </a:prstGeom>
          <a:solidFill>
            <a:srgbClr val="2D9E72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" y="2971800"/>
            <a:ext cx="384048" cy="38404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2990088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(ANN)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" y="3493008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to ANN inputs — zero mean, unit variance. Tree models: no scaling needed.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72968" y="28346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82696" y="2971800"/>
            <a:ext cx="384048" cy="38404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</p:sp>
      <p:sp>
        <p:nvSpPr>
          <p:cNvPr id="26" name="Text 24"/>
          <p:cNvSpPr/>
          <p:nvPr/>
        </p:nvSpPr>
        <p:spPr>
          <a:xfrm>
            <a:off x="3282696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67328" y="2990088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82696" y="3493008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· Decision Tree (multiple configs) · Random Forest (200 trees) · ANN MLP (hidden=(6,6))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25896" y="28346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35624" y="2971800"/>
            <a:ext cx="384048" cy="384048"/>
          </a:xfrm>
          <a:prstGeom prst="rect">
            <a:avLst/>
          </a:prstGeom>
          <a:solidFill>
            <a:srgbClr val="2D9E72"/>
          </a:solidFill>
          <a:ln/>
        </p:spPr>
      </p:sp>
      <p:sp>
        <p:nvSpPr>
          <p:cNvPr id="31" name="Text 29"/>
          <p:cNvSpPr/>
          <p:nvPr/>
        </p:nvSpPr>
        <p:spPr>
          <a:xfrm>
            <a:off x="6135624" y="2971800"/>
            <a:ext cx="384048" cy="38404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20256" y="2990088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35624" y="3493008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MSE, RMSE, R² assessed on held-out 8-sample test set for all models.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4626864"/>
            <a:ext cx="8503920" cy="347472"/>
          </a:xfrm>
          <a:prstGeom prst="rect">
            <a:avLst/>
          </a:prstGeom>
          <a:solidFill>
            <a:srgbClr val="1A353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62686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Linear Regression  |  Decision Tree Regressor  |  Random Forest (n=200)  |  ANN / MLPRegressor (hidden_layers=6,6)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DESIGN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RCBD — 5 Nitrogen treatments × 4 replications × 2 growth stages (30 DAS &amp; 45 DAS)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878622"/>
              </p:ext>
            </p:extLst>
          </p:nvPr>
        </p:nvGraphicFramePr>
        <p:xfrm>
          <a:off x="125307" y="1152144"/>
          <a:ext cx="8893386" cy="3099399"/>
        </p:xfrm>
        <a:graphic>
          <a:graphicData uri="http://schemas.openxmlformats.org/drawingml/2006/table">
            <a:tbl>
              <a:tblPr/>
              <a:tblGrid>
                <a:gridCol w="2261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6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9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66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33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93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Rate (kg/ha)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Yield DAS 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Yield DAS 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vs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3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—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1,203 kg/ha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1,203 kg/ha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3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1,603 kg/ha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1,603 kg/ha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+33.2%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3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 smtClean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1,703 </a:t>
                      </a: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kg/ha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 smtClean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1,703 </a:t>
                      </a: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kg/ha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+74.8%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6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  ★  OPTIMUM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2,008 kg/ha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2,008 kg/ha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+66.9%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3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1,803 kg/ha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1,803 kg/ha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+49.9%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407408"/>
            <a:ext cx="8595360" cy="384048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4"/>
          <p:cNvSpPr/>
          <p:nvPr/>
        </p:nvSpPr>
        <p:spPr>
          <a:xfrm>
            <a:off x="411480" y="4434840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T4 (60 kg N/ha) produced the highest yield at both growth stages. Exceeding this rate (T5 = 80 kg/ha) caused a ~10% yield decline — consistent with the law of diminishing returns.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365364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53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Performance Results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560320" cy="411480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Text 3"/>
          <p:cNvSpPr/>
          <p:nvPr/>
        </p:nvSpPr>
        <p:spPr>
          <a:xfrm>
            <a:off x="374904" y="8046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80360" y="804672"/>
            <a:ext cx="1371600" cy="411480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Text 5"/>
          <p:cNvSpPr/>
          <p:nvPr/>
        </p:nvSpPr>
        <p:spPr>
          <a:xfrm>
            <a:off x="2935224" y="80467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(kg/ha)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51960" y="804672"/>
            <a:ext cx="1406718" cy="411480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ext 7"/>
          <p:cNvSpPr/>
          <p:nvPr/>
        </p:nvSpPr>
        <p:spPr>
          <a:xfrm>
            <a:off x="4306824" y="80467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23560" y="804672"/>
            <a:ext cx="1371600" cy="411480"/>
          </a:xfrm>
          <a:prstGeom prst="rect">
            <a:avLst/>
          </a:prstGeom>
          <a:solidFill>
            <a:srgbClr val="2A5449"/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804672"/>
            <a:ext cx="1371600" cy="411480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(kg/ha)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95160" y="804672"/>
            <a:ext cx="1463040" cy="411480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Text 11"/>
          <p:cNvSpPr/>
          <p:nvPr/>
        </p:nvSpPr>
        <p:spPr>
          <a:xfrm>
            <a:off x="7050024" y="80467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458201" y="804672"/>
            <a:ext cx="722375" cy="411480"/>
          </a:xfrm>
          <a:prstGeom prst="rect">
            <a:avLst/>
          </a:prstGeom>
          <a:solidFill>
            <a:srgbClr val="2A5449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804672"/>
            <a:ext cx="685800" cy="411480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261872"/>
            <a:ext cx="2560320" cy="621792"/>
          </a:xfrm>
          <a:prstGeom prst="rect">
            <a:avLst/>
          </a:prstGeom>
          <a:solidFill>
            <a:srgbClr val="EBF7F1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1261872"/>
            <a:ext cx="64008" cy="621792"/>
          </a:xfrm>
          <a:prstGeom prst="rect">
            <a:avLst/>
          </a:prstGeom>
          <a:solidFill>
            <a:srgbClr val="2D9E72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1261872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9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(depth=5, mss=5, msl=5)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880360" y="1261872"/>
            <a:ext cx="1371600" cy="621792"/>
          </a:xfrm>
          <a:prstGeom prst="rect">
            <a:avLst/>
          </a:prstGeom>
          <a:solidFill>
            <a:srgbClr val="EBF7F1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261872"/>
            <a:ext cx="1234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9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51960" y="1261872"/>
            <a:ext cx="1371600" cy="621792"/>
          </a:xfrm>
          <a:prstGeom prst="rect">
            <a:avLst/>
          </a:prstGeom>
          <a:solidFill>
            <a:srgbClr val="EBF7F1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1261872"/>
            <a:ext cx="1234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9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23560" y="1261872"/>
            <a:ext cx="1371600" cy="621792"/>
          </a:xfrm>
          <a:prstGeom prst="rect">
            <a:avLst/>
          </a:prstGeom>
          <a:solidFill>
            <a:srgbClr val="EBF7F1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1261872"/>
            <a:ext cx="1234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9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13.38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95160" y="1261872"/>
            <a:ext cx="1463040" cy="621792"/>
          </a:xfrm>
          <a:prstGeom prst="rect">
            <a:avLst/>
          </a:prstGeom>
          <a:solidFill>
            <a:srgbClr val="EBF7F1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1261872"/>
            <a:ext cx="1325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9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0.9930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458200" y="1261872"/>
            <a:ext cx="499311" cy="621792"/>
          </a:xfrm>
          <a:prstGeom prst="rect">
            <a:avLst/>
          </a:prstGeom>
          <a:solidFill>
            <a:srgbClr val="EBF7F1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49640" y="1261872"/>
            <a:ext cx="731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9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1st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1947672"/>
            <a:ext cx="2560320" cy="621792"/>
          </a:xfrm>
          <a:prstGeom prst="rect">
            <a:avLst/>
          </a:prstGeom>
          <a:solidFill>
            <a:srgbClr val="F4FAF7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1947672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(base)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880360" y="1947672"/>
            <a:ext cx="1371600" cy="621792"/>
          </a:xfrm>
          <a:prstGeom prst="rect">
            <a:avLst/>
          </a:prstGeom>
          <a:solidFill>
            <a:srgbClr val="F4FAF7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71800" y="1947672"/>
            <a:ext cx="1234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12.50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51960" y="1947672"/>
            <a:ext cx="1371600" cy="621792"/>
          </a:xfrm>
          <a:prstGeom prst="rect">
            <a:avLst/>
          </a:prstGeom>
          <a:solidFill>
            <a:srgbClr val="F4FAF7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3400" y="1947672"/>
            <a:ext cx="1234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23560" y="1947672"/>
            <a:ext cx="1371600" cy="621792"/>
          </a:xfrm>
          <a:prstGeom prst="rect">
            <a:avLst/>
          </a:prstGeom>
          <a:solidFill>
            <a:srgbClr val="F4FAF7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5000" y="1947672"/>
            <a:ext cx="1234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15.59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995160" y="1947672"/>
            <a:ext cx="1463040" cy="621792"/>
          </a:xfrm>
          <a:prstGeom prst="rect">
            <a:avLst/>
          </a:prstGeom>
          <a:solidFill>
            <a:srgbClr val="F4FAF7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86600" y="1947672"/>
            <a:ext cx="1325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0.9905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500310" y="1947672"/>
            <a:ext cx="643690" cy="621792"/>
          </a:xfrm>
          <a:prstGeom prst="rect">
            <a:avLst/>
          </a:prstGeom>
          <a:solidFill>
            <a:srgbClr val="F4FAF7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49640" y="1947672"/>
            <a:ext cx="54623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" y="2633472"/>
            <a:ext cx="2560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2633472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(n=200)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880360" y="2633472"/>
            <a:ext cx="1371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71800" y="2633472"/>
            <a:ext cx="1234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11.69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251960" y="2633472"/>
            <a:ext cx="1371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43400" y="2633472"/>
            <a:ext cx="1234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623560" y="2633472"/>
            <a:ext cx="1371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15000" y="2633472"/>
            <a:ext cx="1234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16.21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995160" y="2633472"/>
            <a:ext cx="1463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86600" y="2633472"/>
            <a:ext cx="1325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0.9898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458200" y="2633472"/>
            <a:ext cx="547437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49640" y="2633472"/>
            <a:ext cx="731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(rec.)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20040" y="3319272"/>
            <a:ext cx="2560320" cy="621792"/>
          </a:xfrm>
          <a:prstGeom prst="rect">
            <a:avLst/>
          </a:prstGeom>
          <a:solidFill>
            <a:srgbClr val="F4FAF7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319272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880360" y="3319272"/>
            <a:ext cx="1371600" cy="621792"/>
          </a:xfrm>
          <a:prstGeom prst="rect">
            <a:avLst/>
          </a:prstGeom>
          <a:solidFill>
            <a:srgbClr val="F4FAF7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71800" y="3319272"/>
            <a:ext cx="1234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74.87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251960" y="3319272"/>
            <a:ext cx="1371600" cy="621792"/>
          </a:xfrm>
          <a:prstGeom prst="rect">
            <a:avLst/>
          </a:prstGeom>
          <a:solidFill>
            <a:srgbClr val="F4FAF7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43400" y="3319272"/>
            <a:ext cx="1234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7,418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623560" y="3319272"/>
            <a:ext cx="1371600" cy="621792"/>
          </a:xfrm>
          <a:prstGeom prst="rect">
            <a:avLst/>
          </a:prstGeom>
          <a:solidFill>
            <a:srgbClr val="F4FAF7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15000" y="3319272"/>
            <a:ext cx="1234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86.13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995160" y="3319272"/>
            <a:ext cx="1463040" cy="621792"/>
          </a:xfrm>
          <a:prstGeom prst="rect">
            <a:avLst/>
          </a:prstGeom>
          <a:solidFill>
            <a:srgbClr val="F4FAF7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86600" y="3319272"/>
            <a:ext cx="1325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0.7112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8187490" y="3337560"/>
            <a:ext cx="868680" cy="621792"/>
          </a:xfrm>
          <a:prstGeom prst="rect">
            <a:avLst/>
          </a:prstGeom>
          <a:solidFill>
            <a:srgbClr val="F4FAF7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549640" y="3319272"/>
            <a:ext cx="731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320040" y="4005072"/>
            <a:ext cx="2560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1480" y="4005072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/ MLPRegressor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880360" y="4005072"/>
            <a:ext cx="1371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971800" y="4005072"/>
            <a:ext cx="1234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86.39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4251960" y="4005072"/>
            <a:ext cx="1371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343400" y="4005072"/>
            <a:ext cx="1234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12,043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5623560" y="4005072"/>
            <a:ext cx="1371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715000" y="4005072"/>
            <a:ext cx="1234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109.74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6995160" y="4005072"/>
            <a:ext cx="1463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86600" y="4005072"/>
            <a:ext cx="1325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0.5312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8458200" y="4005072"/>
            <a:ext cx="685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549640" y="4005072"/>
            <a:ext cx="731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320040" y="4754880"/>
            <a:ext cx="8503920" cy="182880"/>
          </a:xfrm>
          <a:prstGeom prst="rect">
            <a:avLst/>
          </a:prstGeom>
          <a:solidFill>
            <a:srgbClr val="C8E0D4"/>
          </a:solidFill>
          <a:ln/>
        </p:spPr>
      </p:sp>
      <p:sp>
        <p:nvSpPr>
          <p:cNvPr id="78" name="Text 76"/>
          <p:cNvSpPr/>
          <p:nvPr/>
        </p:nvSpPr>
        <p:spPr>
          <a:xfrm>
            <a:off x="320040" y="4773167"/>
            <a:ext cx="8503920" cy="448189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9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deployment:  </a:t>
            </a:r>
            <a:r>
              <a:rPr lang="en-US" sz="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(R²=0.9898) — superior generalisation over single Decision Tree. DT (depth=5) achieves best test-set R² but may overfit unseen data from different seasons.</a:t>
            </a:r>
            <a:endParaRPr lang="en-US" sz="9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431" y="3672054"/>
            <a:ext cx="8391990" cy="436884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2000" dirty="0" smtClean="0"/>
              <a:t>Figure </a:t>
            </a:r>
            <a:r>
              <a:rPr lang="en-US" sz="2000" dirty="0" smtClean="0"/>
              <a:t>1:linear </a:t>
            </a:r>
            <a:r>
              <a:rPr lang="en-US" sz="2000" dirty="0" smtClean="0"/>
              <a:t>regression </a:t>
            </a:r>
            <a:r>
              <a:rPr lang="en-US" sz="2000" dirty="0"/>
              <a:t> </a:t>
            </a:r>
            <a:r>
              <a:rPr lang="en-US" sz="2000" dirty="0" smtClean="0"/>
              <a:t>                                             Figure2:</a:t>
            </a:r>
            <a:r>
              <a:rPr lang="en-US" sz="2000" dirty="0" smtClean="0"/>
              <a:t> </a:t>
            </a:r>
            <a:r>
              <a:rPr lang="en-US" sz="2000" dirty="0" smtClean="0"/>
              <a:t>Decision </a:t>
            </a:r>
            <a:r>
              <a:rPr lang="en-US" sz="2000" dirty="0" smtClean="0"/>
              <a:t>tree.</a:t>
            </a:r>
            <a:endParaRPr lang="en-IN" sz="2000" dirty="0"/>
          </a:p>
        </p:txBody>
      </p:sp>
      <p:pic>
        <p:nvPicPr>
          <p:cNvPr id="3" name="Picture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152400" y="0"/>
            <a:ext cx="3816626" cy="367205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4" name="Picture"/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4346713" y="0"/>
            <a:ext cx="3955774" cy="367085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cxnSp>
        <p:nvCxnSpPr>
          <p:cNvPr id="6" name="Straight Connector 5"/>
          <p:cNvCxnSpPr>
            <a:stCxn id="2" idx="0"/>
            <a:endCxn id="2" idx="2"/>
          </p:cNvCxnSpPr>
          <p:nvPr/>
        </p:nvCxnSpPr>
        <p:spPr>
          <a:xfrm>
            <a:off x="4389426" y="3672054"/>
            <a:ext cx="0" cy="4368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764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5138" y="3700213"/>
            <a:ext cx="7991622" cy="42631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000" dirty="0" smtClean="0"/>
              <a:t>Figure </a:t>
            </a:r>
            <a:r>
              <a:rPr lang="en-US" sz="2000" dirty="0" smtClean="0"/>
              <a:t>3: Random forest                                                  Figure4: ANN</a:t>
            </a:r>
            <a:endParaRPr lang="en-IN" sz="2000" dirty="0"/>
          </a:p>
        </p:txBody>
      </p:sp>
      <p:pic>
        <p:nvPicPr>
          <p:cNvPr id="3" name="Picture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145774" y="303598"/>
            <a:ext cx="3909391" cy="339661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4" name="Picture"/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4485860" y="303597"/>
            <a:ext cx="3995530" cy="339661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cxnSp>
        <p:nvCxnSpPr>
          <p:cNvPr id="6" name="Straight Connector 5"/>
          <p:cNvCxnSpPr>
            <a:stCxn id="2" idx="0"/>
            <a:endCxn id="2" idx="2"/>
          </p:cNvCxnSpPr>
          <p:nvPr/>
        </p:nvCxnSpPr>
        <p:spPr>
          <a:xfrm>
            <a:off x="4370949" y="3700213"/>
            <a:ext cx="0" cy="426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6163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DID THE ANN FAIL? — ROOT CAUSE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8503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024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987552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1.Insufficient </a:t>
            </a: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7635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</a:t>
            </a:r>
            <a:r>
              <a:rPr lang="en-US" sz="1250" dirty="0" smtClean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</a:t>
            </a: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 — far below the minimum required for neural network convergence. Neural networks typically need hundreds to thousands of samples to learn stable weight representations.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1892808"/>
            <a:ext cx="8503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1984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1947672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2.No </a:t>
            </a: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/ Normalisation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240280"/>
            <a:ext cx="7635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MLPRegressor uses gradient descent, which requires features to be normalised (zero mean, unit variance). Raw agricultural values vary widely: Nitrogen (0–80), Leaf Area (120–335), Plant Height (17–46). This wide range causes gradient instability and exploding/vanishing gradients.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852928"/>
            <a:ext cx="8503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4048" y="2944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2907792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3.Iteration </a:t>
            </a:r>
            <a:r>
              <a:rPr lang="en-US" sz="14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Too Low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200400"/>
            <a:ext cx="7635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smtClean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 </a:t>
            </a: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were explicitly insufficient — a ConvergenceWarning was issued. Increasing max_iter to </a:t>
            </a:r>
            <a:r>
              <a:rPr lang="en-US" sz="1250" dirty="0" smtClean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10,000–15,000 </a:t>
            </a: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minimum prerequisite for a fair evaluation of neural network convergence on this data.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0040" y="3813048"/>
            <a:ext cx="8503920" cy="841248"/>
          </a:xfrm>
          <a:prstGeom prst="rect">
            <a:avLst/>
          </a:prstGeom>
          <a:solidFill>
            <a:srgbClr val="EAFAF0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048" y="39044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1560" y="3867912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4.Fix</a:t>
            </a: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StandardScaler + More Iterations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160520"/>
            <a:ext cx="7635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sklearn.preprocessing.StandardScaler before training, increase max_iter to </a:t>
            </a:r>
            <a:r>
              <a:rPr lang="en-US" sz="1250" dirty="0" smtClean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≥10,000</a:t>
            </a: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use cross-validation for evaluation, and experiment with deeper architectures. These steps are prerequisites for fair ANN comparison on agricultural tabular datasets.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089600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53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Importance &amp; Hyperparameter Tuning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690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069080" cy="64008"/>
          </a:xfrm>
          <a:prstGeom prst="rect">
            <a:avLst/>
          </a:prstGeom>
          <a:solidFill>
            <a:srgbClr val="2D9E7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961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Feature Importance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Nitrogen_kg_ha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0" y="1353312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9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98.75%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09344"/>
            <a:ext cx="3520440" cy="201168"/>
          </a:xfrm>
          <a:prstGeom prst="rect">
            <a:avLst/>
          </a:prstGeom>
          <a:solidFill>
            <a:srgbClr val="D4EEE3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609344"/>
            <a:ext cx="3476435" cy="201168"/>
          </a:xfrm>
          <a:prstGeom prst="rect">
            <a:avLst/>
          </a:prstGeom>
          <a:solidFill>
            <a:srgbClr val="2D9E7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1168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Ground_Cover_%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0" y="201168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9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67712"/>
            <a:ext cx="3520440" cy="201168"/>
          </a:xfrm>
          <a:prstGeom prst="rect">
            <a:avLst/>
          </a:prstGeom>
          <a:solidFill>
            <a:srgbClr val="D4EEE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7004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Plant_Height_cm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31920" y="2670048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9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3520440" cy="201168"/>
          </a:xfrm>
          <a:prstGeom prst="rect">
            <a:avLst/>
          </a:prstGeom>
          <a:solidFill>
            <a:srgbClr val="D4EEE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28416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Leaf_Area_cm²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31920" y="3328416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9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584448"/>
            <a:ext cx="3520440" cy="201168"/>
          </a:xfrm>
          <a:prstGeom prst="rect">
            <a:avLst/>
          </a:prstGeom>
          <a:solidFill>
            <a:srgbClr val="D4EEE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98678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31920" y="3986784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9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242816"/>
            <a:ext cx="3520440" cy="201168"/>
          </a:xfrm>
          <a:prstGeom prst="rect">
            <a:avLst/>
          </a:prstGeom>
          <a:solidFill>
            <a:srgbClr val="D4EEE3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480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Nitrogen_kg_ha dominates at 98.75% importance — confirming N rate is the primary driver of yield variance in this dataset. Growth parameters serve as mediating variables.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0" y="822960"/>
            <a:ext cx="40690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822960"/>
            <a:ext cx="4069080" cy="64008"/>
          </a:xfrm>
          <a:prstGeom prst="rect">
            <a:avLst/>
          </a:prstGeom>
          <a:solidFill>
            <a:srgbClr val="2A5449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8961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— Hyperparameter Tuning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92040" y="128016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         Parameters               RMSE     R²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0600" y="1627632"/>
            <a:ext cx="3977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168249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19472" y="199339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depth=None, mss=5, msl=2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452360" y="1700784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28432" y="1700784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A3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0.9905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00600" y="2359152"/>
            <a:ext cx="3977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241401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2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19472" y="272491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depth=3, mss=5, msl=2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452360" y="2432304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28432" y="2432304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A3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0.9914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00600" y="3090672"/>
            <a:ext cx="3977640" cy="658368"/>
          </a:xfrm>
          <a:prstGeom prst="rect">
            <a:avLst/>
          </a:prstGeom>
          <a:solidFill>
            <a:srgbClr val="EBF7F1"/>
          </a:solidFill>
          <a:ln w="19050">
            <a:solidFill>
              <a:srgbClr val="2D9E7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3090672"/>
            <a:ext cx="64008" cy="658368"/>
          </a:xfrm>
          <a:prstGeom prst="rect">
            <a:avLst/>
          </a:prstGeom>
          <a:solidFill>
            <a:srgbClr val="2D9E72"/>
          </a:solidFill>
          <a:ln/>
        </p:spPr>
      </p:sp>
      <p:sp>
        <p:nvSpPr>
          <p:cNvPr id="40" name="Text 38"/>
          <p:cNvSpPr/>
          <p:nvPr/>
        </p:nvSpPr>
        <p:spPr>
          <a:xfrm>
            <a:off x="4919472" y="314553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9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3 ★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19472" y="345643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depth=5, mss=5, msl=5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452360" y="3163824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028432" y="3163824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9E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0.9930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00600" y="3822192"/>
            <a:ext cx="3977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E0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9472" y="387705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4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919472" y="418795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depth=5, mss=7, msl=4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452360" y="3895344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13.38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028432" y="3895344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A3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0.9930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892040" y="459028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regularization (depth + leaf constraints) consistently improves generalization on this 40-sample dataset. Config 3 &amp; 4 tie — tightening mss beyond 5 adds no benefit when msl=5.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203"/>
            <a:ext cx="9144000" cy="685800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F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 &amp; Conclusion</a:t>
            </a:r>
            <a:endParaRPr lang="en-US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rgbClr val="FFFF0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41248"/>
            <a:ext cx="64008" cy="1371600"/>
          </a:xfrm>
          <a:prstGeom prst="rect">
            <a:avLst/>
          </a:prstGeom>
          <a:solidFill>
            <a:srgbClr val="2D9E72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9326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Optimum: 60 kg/ha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" y="1261872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(60 kg N/ha) consistently yielded highest grain output (~2,000–2,100 kg/ha). Excess N at T5 (80 kg) caused yield depression — confirmed luxury N consumption reducing reproductive partitioning.</a:t>
            </a:r>
            <a:endParaRPr lang="en-US" sz="950" b="1" dirty="0">
              <a:solidFill>
                <a:srgbClr val="C00000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754880" y="841248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41248"/>
            <a:ext cx="64008" cy="1371600"/>
          </a:xfrm>
          <a:prstGeom prst="rect">
            <a:avLst/>
          </a:prstGeom>
          <a:solidFill>
            <a:srgbClr val="2D9E72"/>
          </a:solidFill>
          <a:ln/>
        </p:spPr>
      </p:sp>
      <p:sp>
        <p:nvSpPr>
          <p:cNvPr id="10" name="Text 8"/>
          <p:cNvSpPr/>
          <p:nvPr/>
        </p:nvSpPr>
        <p:spPr>
          <a:xfrm>
            <a:off x="4919472" y="9326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Models Dominate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19472" y="1261872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and Random Forest achieve R² &gt; 0.98 on RCBD experimental data. Structured, controlled design makes yield response highly learnable by recursive partitioning.</a:t>
            </a:r>
            <a:endParaRPr lang="en-US" sz="950" b="1" dirty="0">
              <a:solidFill>
                <a:srgbClr val="C00000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" y="2350008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50008"/>
            <a:ext cx="64008" cy="1371600"/>
          </a:xfrm>
          <a:prstGeom prst="rect">
            <a:avLst/>
          </a:prstGeom>
          <a:solidFill>
            <a:srgbClr val="2D9E72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" y="24414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Limitation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" y="2770632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achieved R² = 0.5312, substantially below tree models. Gradient-based optimizers require larger datasets. Neural networks are not recommended for n &lt; 50 structured agronomic data.</a:t>
            </a:r>
            <a:endParaRPr lang="en-US" sz="950" b="1" dirty="0">
              <a:solidFill>
                <a:srgbClr val="C00000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54880" y="2350008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0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350008"/>
            <a:ext cx="64008" cy="1371600"/>
          </a:xfrm>
          <a:prstGeom prst="rect">
            <a:avLst/>
          </a:prstGeom>
          <a:solidFill>
            <a:srgbClr val="2D9E72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24414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Limitation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9472" y="2770632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captured 71.1% variance — misses non-linear yield response near nitrogen optimum. Cannot model the yield decline at 80 kg N/ha (inverted-U response curve).</a:t>
            </a:r>
            <a:endParaRPr lang="en-US" sz="950" b="1" dirty="0">
              <a:solidFill>
                <a:srgbClr val="C00000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" y="4005072"/>
            <a:ext cx="8503920" cy="96012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sp>
      <p:sp>
        <p:nvSpPr>
          <p:cNvPr id="21" name="Text 19"/>
          <p:cNvSpPr/>
          <p:nvPr/>
        </p:nvSpPr>
        <p:spPr>
          <a:xfrm>
            <a:off x="502920" y="4059936"/>
            <a:ext cx="2926080" cy="256032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Recommendations</a:t>
            </a:r>
            <a:endParaRPr lang="en-US" sz="1100" dirty="0">
              <a:solidFill>
                <a:srgbClr val="7030A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502920" y="433425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Recommended model: Random Forest (R²=0.9898) for practical deployment — best generalisation and interpretable feature importance</a:t>
            </a:r>
            <a:endParaRPr lang="en-US" sz="1000" b="1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Optimal N-rate: 60 kg/ha (T4)  |  Future work: multi-season, multi-location datasets with soil &amp; weather covariates</a:t>
            </a:r>
            <a:endParaRPr lang="en-US" sz="1000" b="1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STACK &amp; REFERENCES</a:t>
            </a:r>
            <a:endParaRPr lang="en-US" sz="2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2606040" cy="9144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4183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896112"/>
            <a:ext cx="260604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54680" y="94183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154680" y="13716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89320" y="896112"/>
            <a:ext cx="260604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89320" y="94183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89320" y="13716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993392"/>
            <a:ext cx="2606040" cy="91440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203911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" y="24688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54680" y="1993392"/>
            <a:ext cx="2606040" cy="914400"/>
          </a:xfrm>
          <a:prstGeom prst="rect">
            <a:avLst/>
          </a:prstGeom>
          <a:solidFill>
            <a:srgbClr val="E8953A"/>
          </a:solidFill>
          <a:ln w="12700">
            <a:solidFill>
              <a:srgbClr val="E895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54680" y="203911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154680" y="24688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Platform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1993392"/>
            <a:ext cx="2606040" cy="914400"/>
          </a:xfrm>
          <a:prstGeom prst="rect">
            <a:avLst/>
          </a:prstGeom>
          <a:solidFill>
            <a:srgbClr val="6C8EAD"/>
          </a:solidFill>
          <a:ln w="12700">
            <a:solidFill>
              <a:srgbClr val="6C8E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89320" y="203911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Split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89320" y="24688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 = 42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200400"/>
            <a:ext cx="8595360" cy="1325880"/>
          </a:xfrm>
          <a:prstGeom prst="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</p:sp>
      <p:sp>
        <p:nvSpPr>
          <p:cNvPr id="23" name="Text 21"/>
          <p:cNvSpPr/>
          <p:nvPr/>
        </p:nvSpPr>
        <p:spPr>
          <a:xfrm>
            <a:off x="457200" y="32644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Configuration Reference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Regression: </a:t>
            </a:r>
            <a:r>
              <a:rPr lang="en-US" sz="1400" b="1" dirty="0">
                <a:solidFill>
                  <a:srgbClr val="F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LinearRegression() — all defaults
</a:t>
            </a: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 </a:t>
            </a:r>
            <a:r>
              <a:rPr lang="en-US" sz="1400" b="1" dirty="0">
                <a:solidFill>
                  <a:srgbClr val="F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DecisionTreeRegressor(min_samples_split=5, min_samples_leaf=2, random_state=42)
</a:t>
            </a: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</a:t>
            </a:r>
            <a:r>
              <a:rPr lang="en-US" sz="1400" b="1" dirty="0" smtClean="0">
                <a:solidFill>
                  <a:srgbClr val="F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RandomForestRegressor(</a:t>
            </a:r>
            <a:r>
              <a:rPr lang="en-US" sz="1400" b="1" dirty="0" err="1" smtClean="0">
                <a:solidFill>
                  <a:srgbClr val="F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r>
              <a:rPr lang="en-US" sz="1400" b="1" dirty="0" smtClean="0">
                <a:solidFill>
                  <a:srgbClr val="F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=200</a:t>
            </a:r>
            <a:r>
              <a:rPr lang="en-US" sz="1400" b="1" dirty="0">
                <a:solidFill>
                  <a:srgbClr val="F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random_state=42)
</a:t>
            </a: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ANN: </a:t>
            </a:r>
            <a:r>
              <a:rPr lang="en-US" sz="1400" b="1" dirty="0">
                <a:solidFill>
                  <a:srgbClr val="F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MLPRegressor(hidden_layer_sizes=(6,6), </a:t>
            </a:r>
            <a:r>
              <a:rPr lang="en-US" sz="1400" b="1" dirty="0" smtClean="0">
                <a:solidFill>
                  <a:srgbClr val="F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max_iter=10000</a:t>
            </a:r>
            <a:r>
              <a:rPr lang="en-US" sz="1400" b="1" dirty="0">
                <a:solidFill>
                  <a:srgbClr val="F8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— convergence NOT achieved</a:t>
            </a:r>
            <a:endParaRPr lang="en-US" sz="1400" b="1" dirty="0"/>
          </a:p>
        </p:txBody>
      </p:sp>
      <p:sp>
        <p:nvSpPr>
          <p:cNvPr id="26" name="Text 24"/>
          <p:cNvSpPr/>
          <p:nvPr/>
        </p:nvSpPr>
        <p:spPr>
          <a:xfrm>
            <a:off x="2514600" y="4645152"/>
            <a:ext cx="321365" cy="45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99857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6647" y="55549"/>
            <a:ext cx="8229600" cy="373365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en-I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1. </a:t>
            </a:r>
            <a:r>
              <a:rPr lang="en-IN" sz="1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Balamurugan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, S., </a:t>
            </a:r>
            <a:r>
              <a:rPr lang="en-IN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Nagarajan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, G., &amp; </a:t>
            </a:r>
            <a:r>
              <a:rPr lang="en-IN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Selvam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, V. (2023). Deep learning versus ensemble tree methods for yield estimation of </a:t>
            </a:r>
            <a:r>
              <a:rPr lang="en-IN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kharif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crops on small tabular datasets. </a:t>
            </a:r>
            <a:r>
              <a:rPr lang="en-I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Smart Agricultural Technology,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4, </a:t>
            </a:r>
            <a:r>
              <a:rPr lang="en-I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100178.</a:t>
            </a:r>
          </a:p>
          <a:p>
            <a:pPr lvl="0">
              <a:spcBef>
                <a:spcPts val="300"/>
              </a:spcBef>
              <a:spcAft>
                <a:spcPts val="300"/>
              </a:spcAft>
            </a:pPr>
            <a:endParaRPr lang="en-IN" sz="1600" dirty="0" smtClean="0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en-I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2. </a:t>
            </a:r>
            <a:r>
              <a:rPr lang="en-IN" sz="1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Anilkumar</a:t>
            </a:r>
            <a:r>
              <a:rPr lang="en-I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, M., Patnaik, S., &amp; Sridhar, V. (2024). Nitrogen optimisation in </a:t>
            </a:r>
            <a:r>
              <a:rPr lang="en-IN" sz="1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rainfed</a:t>
            </a:r>
            <a:r>
              <a:rPr lang="en-I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chickpea using Decision Tree predictive analytics. </a:t>
            </a:r>
            <a:r>
              <a:rPr lang="en-IN" sz="16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Journal of Agronomy and Crop Science,</a:t>
            </a:r>
            <a:r>
              <a:rPr lang="en-I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210(2), 220–231.</a:t>
            </a:r>
            <a:endParaRPr lang="en-IN" sz="1600" dirty="0" smtClean="0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lvl="0">
              <a:spcBef>
                <a:spcPts val="300"/>
              </a:spcBef>
              <a:spcAft>
                <a:spcPts val="300"/>
              </a:spcAft>
            </a:pPr>
            <a:endParaRPr lang="en-IN" sz="1600" dirty="0" smtClean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en-I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3. </a:t>
            </a:r>
            <a:r>
              <a:rPr lang="en-IN" sz="1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Patil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, A., Kulkarni, M., &amp; Singh, D. (2025). Chickpea yield prediction using hybrid Random Forest–Gaussian Process models and multi-temporal satellite imagery. </a:t>
            </a:r>
            <a:r>
              <a:rPr lang="en-I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Field Crops Research,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 308, 109450</a:t>
            </a:r>
            <a:r>
              <a:rPr lang="en-I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.</a:t>
            </a:r>
          </a:p>
          <a:p>
            <a:pPr lvl="0">
              <a:spcBef>
                <a:spcPts val="300"/>
              </a:spcBef>
              <a:spcAft>
                <a:spcPts val="300"/>
              </a:spcAft>
            </a:pPr>
            <a:endParaRPr lang="en-IN" sz="1600" dirty="0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lvl="0">
              <a:lnSpc>
                <a:spcPct val="107000"/>
              </a:lnSpc>
              <a:spcAft>
                <a:spcPts val="1390"/>
              </a:spcAft>
            </a:pPr>
            <a:r>
              <a:rPr lang="en-I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4. Dataset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- from the experimental plot technique experimental data and results.</a:t>
            </a:r>
            <a:endParaRPr lang="en-IN" sz="1600" dirty="0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600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9E72"/>
          </a:solidFill>
          <a:ln/>
        </p:spPr>
      </p:sp>
      <p:sp>
        <p:nvSpPr>
          <p:cNvPr id="3" name="Text 1"/>
          <p:cNvSpPr/>
          <p:nvPr/>
        </p:nvSpPr>
        <p:spPr>
          <a:xfrm>
            <a:off x="2179983" y="1371600"/>
            <a:ext cx="4863548" cy="1005840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 algn="l">
              <a:buNone/>
            </a:pPr>
            <a:r>
              <a:rPr lang="en-US" sz="56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Thank </a:t>
            </a: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5029200" cy="36576"/>
          </a:xfrm>
          <a:prstGeom prst="rect">
            <a:avLst/>
          </a:prstGeom>
          <a:solidFill>
            <a:srgbClr val="2D9E7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697479"/>
            <a:ext cx="8229600" cy="16094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D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11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Sumathi C  ·  Supriya BH  ·  Anupriya AV</a:t>
            </a:r>
            <a:endParaRPr lang="en-US" sz="11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999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526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181</TotalTime>
  <Words>1694</Words>
  <Application>Microsoft Office PowerPoint</Application>
  <PresentationFormat>On-screen Show (16:9)</PresentationFormat>
  <Paragraphs>289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Georgia</vt:lpstr>
      <vt:lpstr>Times New Roman</vt:lpstr>
      <vt:lpstr>Trebuchet MS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Figure 1:linear regression                                               Figure2: Decision tree.</vt:lpstr>
      <vt:lpstr>Figure 3: Random forest                                                  Figure4: ANN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for Chickpea Nitrogen Study</dc:title>
  <dc:subject>PptxGenJS Presentation</dc:subject>
  <dc:creator>PptxGenJS</dc:creator>
  <cp:lastModifiedBy>supriya bh</cp:lastModifiedBy>
  <cp:revision>17</cp:revision>
  <dcterms:created xsi:type="dcterms:W3CDTF">2026-04-14T05:31:35Z</dcterms:created>
  <dcterms:modified xsi:type="dcterms:W3CDTF">2026-04-16T04:54:41Z</dcterms:modified>
</cp:coreProperties>
</file>